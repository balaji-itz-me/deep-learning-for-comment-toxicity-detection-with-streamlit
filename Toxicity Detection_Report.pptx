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Klein Bold" charset="1" panose="02000503060000020004"/>
      <p:regular r:id="rId19"/>
    </p:embeddedFont>
    <p:embeddedFont>
      <p:font typeface="Helios" charset="1" panose="020B0504020202020204"/>
      <p:regular r:id="rId20"/>
    </p:embeddedFont>
    <p:embeddedFont>
      <p:font typeface="Helios Bold" charset="1" panose="020B0704020202020204"/>
      <p:regular r:id="rId21"/>
    </p:embeddedFont>
    <p:embeddedFont>
      <p:font typeface="Klein" charset="1" panose="0200050306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66927" y="-4280359"/>
            <a:ext cx="10812392" cy="10812392"/>
          </a:xfrm>
          <a:custGeom>
            <a:avLst/>
            <a:gdLst/>
            <a:ahLst/>
            <a:cxnLst/>
            <a:rect r="r" b="b" t="t" l="l"/>
            <a:pathLst>
              <a:path h="10812392" w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7200" y="4432068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736948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4076988"/>
            <a:ext cx="8115300" cy="2133023"/>
            <a:chOff x="0" y="0"/>
            <a:chExt cx="10820400" cy="284403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0820400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Toxic Comment Detection using BERT-based Multi-label Classification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551383"/>
              <a:ext cx="10498974" cy="1292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Powered by Hugging Face Transformers and PyTorch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98450" y="7999175"/>
            <a:ext cx="6468970" cy="77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1"/>
              </a:lnSpc>
              <a:spcBef>
                <a:spcPct val="0"/>
              </a:spcBef>
            </a:pPr>
            <a:r>
              <a:rPr lang="en-US" sz="220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DEVELOPED BY: BALAJI K</a:t>
            </a:r>
          </a:p>
          <a:p>
            <a:pPr algn="ctr">
              <a:lnSpc>
                <a:spcPts val="3081"/>
              </a:lnSpc>
              <a:spcBef>
                <a:spcPct val="0"/>
              </a:spcBef>
            </a:pPr>
            <a:r>
              <a:rPr lang="en-US" sz="220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DATE: JULY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22778" cy="10287000"/>
            <a:chOff x="0" y="0"/>
            <a:chExt cx="16915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15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91596">
                  <a:moveTo>
                    <a:pt x="0" y="0"/>
                  </a:moveTo>
                  <a:lnTo>
                    <a:pt x="1691596" y="0"/>
                  </a:lnTo>
                  <a:lnTo>
                    <a:pt x="16915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9159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346105"/>
            <a:ext cx="6746873" cy="3259455"/>
            <a:chOff x="0" y="0"/>
            <a:chExt cx="8995831" cy="43459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8995831" cy="3031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6999" b="true">
                  <a:solidFill>
                    <a:srgbClr val="153969"/>
                  </a:solidFill>
                  <a:latin typeface="Klein Bold"/>
                  <a:ea typeface="Klein Bold"/>
                  <a:cs typeface="Klein Bold"/>
                  <a:sym typeface="Klein Bold"/>
                </a:rPr>
                <a:t>Problem Statement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638338"/>
              <a:ext cx="7058405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22778" y="253340"/>
            <a:ext cx="11865222" cy="8546167"/>
            <a:chOff x="0" y="0"/>
            <a:chExt cx="15820296" cy="1139488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15820296" cy="1800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16"/>
                </a:lnSpc>
                <a:spcBef>
                  <a:spcPct val="0"/>
                </a:spcBef>
              </a:pPr>
              <a:r>
                <a:rPr lang="en-US" b="true" sz="4430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The Challenge of Online Content Moderation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840748"/>
              <a:ext cx="15820296" cy="8554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3790" indent="-311895" lvl="1">
                <a:lnSpc>
                  <a:spcPts val="4044"/>
                </a:lnSpc>
                <a:buFont typeface="Arial"/>
                <a:buChar char="•"/>
              </a:pPr>
              <a:r>
                <a:rPr lang="en-US" b="true" sz="2889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Volume:</a:t>
              </a:r>
              <a:r>
                <a:rPr lang="en-US" sz="288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Billions of messages posted daily across platforms</a:t>
              </a:r>
            </a:p>
            <a:p>
              <a:pPr algn="l">
                <a:lnSpc>
                  <a:spcPts val="4044"/>
                </a:lnSpc>
              </a:pPr>
            </a:p>
            <a:p>
              <a:pPr algn="l" marL="623790" indent="-311895" lvl="1">
                <a:lnSpc>
                  <a:spcPts val="4044"/>
                </a:lnSpc>
                <a:buFont typeface="Arial"/>
                <a:buChar char="•"/>
              </a:pPr>
              <a:r>
                <a:rPr lang="en-US" b="true" sz="2889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Manual Review:</a:t>
              </a:r>
              <a:r>
                <a:rPr lang="en-US" sz="288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Impossible to manually review all content</a:t>
              </a:r>
            </a:p>
            <a:p>
              <a:pPr algn="l">
                <a:lnSpc>
                  <a:spcPts val="4044"/>
                </a:lnSpc>
              </a:pPr>
            </a:p>
            <a:p>
              <a:pPr algn="l" marL="623790" indent="-311895" lvl="1">
                <a:lnSpc>
                  <a:spcPts val="4044"/>
                </a:lnSpc>
                <a:buFont typeface="Arial"/>
                <a:buChar char="•"/>
              </a:pPr>
              <a:r>
                <a:rPr lang="en-US" b="true" sz="2889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Context Sensitivity:</a:t>
              </a:r>
              <a:r>
                <a:rPr lang="en-US" sz="288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Toxicity can be subtle and context-dependent</a:t>
              </a:r>
            </a:p>
            <a:p>
              <a:pPr algn="l">
                <a:lnSpc>
                  <a:spcPts val="4044"/>
                </a:lnSpc>
              </a:pPr>
            </a:p>
            <a:p>
              <a:pPr algn="l" marL="623790" indent="-311895" lvl="1">
                <a:lnSpc>
                  <a:spcPts val="4044"/>
                </a:lnSpc>
                <a:buFont typeface="Arial"/>
                <a:buChar char="•"/>
              </a:pPr>
              <a:r>
                <a:rPr lang="en-US" b="true" sz="2889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Multiple Categories:</a:t>
              </a:r>
              <a:r>
                <a:rPr lang="en-US" sz="288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Different types of harmful content require different responses</a:t>
              </a:r>
            </a:p>
            <a:p>
              <a:pPr algn="l">
                <a:lnSpc>
                  <a:spcPts val="4044"/>
                </a:lnSpc>
              </a:pPr>
            </a:p>
            <a:p>
              <a:pPr algn="l" marL="623790" indent="-311895" lvl="1">
                <a:lnSpc>
                  <a:spcPts val="4044"/>
                </a:lnSpc>
                <a:buFont typeface="Arial"/>
                <a:buChar char="•"/>
              </a:pPr>
              <a:r>
                <a:rPr lang="en-US" b="true" sz="2889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Real-time Needs:</a:t>
              </a:r>
              <a:r>
                <a:rPr lang="en-US" sz="288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Immediate detection and response required</a:t>
              </a:r>
            </a:p>
            <a:p>
              <a:pPr algn="l">
                <a:lnSpc>
                  <a:spcPts val="4044"/>
                </a:lnSpc>
              </a:pPr>
            </a:p>
            <a:p>
              <a:pPr algn="l">
                <a:lnSpc>
                  <a:spcPts val="4044"/>
                </a:lnSpc>
              </a:pPr>
              <a:r>
                <a:rPr lang="en-US" sz="288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</a:t>
              </a:r>
              <a:r>
                <a:rPr lang="en-US" sz="2889" b="tru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Solution: </a:t>
              </a:r>
              <a:r>
                <a:rPr lang="en-US" sz="288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Automated, intelligent toxicity detection system</a:t>
              </a:r>
            </a:p>
            <a:p>
              <a:pPr algn="l" marL="0" indent="0" lvl="0">
                <a:lnSpc>
                  <a:spcPts val="2985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62743" y="-140903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0" y="0"/>
                </a:lnTo>
                <a:lnTo>
                  <a:pt x="13960430" y="13960431"/>
                </a:lnTo>
                <a:lnTo>
                  <a:pt x="0" y="139604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2850" y="4540894"/>
            <a:ext cx="5534402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Dataset Overview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541920" y="5004179"/>
            <a:ext cx="1130831" cy="1130831"/>
          </a:xfrm>
          <a:custGeom>
            <a:avLst/>
            <a:gdLst/>
            <a:ahLst/>
            <a:cxnLst/>
            <a:rect r="r" b="b" t="t" l="l"/>
            <a:pathLst>
              <a:path h="1130831" w="1130831">
                <a:moveTo>
                  <a:pt x="0" y="0"/>
                </a:moveTo>
                <a:lnTo>
                  <a:pt x="1130831" y="0"/>
                </a:lnTo>
                <a:lnTo>
                  <a:pt x="1130831" y="1130830"/>
                </a:lnTo>
                <a:lnTo>
                  <a:pt x="0" y="1130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86341" y="5150187"/>
            <a:ext cx="841988" cy="841988"/>
          </a:xfrm>
          <a:custGeom>
            <a:avLst/>
            <a:gdLst/>
            <a:ahLst/>
            <a:cxnLst/>
            <a:rect r="r" b="b" t="t" l="l"/>
            <a:pathLst>
              <a:path h="841988" w="841988">
                <a:moveTo>
                  <a:pt x="0" y="0"/>
                </a:moveTo>
                <a:lnTo>
                  <a:pt x="841988" y="0"/>
                </a:lnTo>
                <a:lnTo>
                  <a:pt x="841988" y="841987"/>
                </a:lnTo>
                <a:lnTo>
                  <a:pt x="0" y="8419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49556" y="5361062"/>
            <a:ext cx="315559" cy="420236"/>
          </a:xfrm>
          <a:custGeom>
            <a:avLst/>
            <a:gdLst/>
            <a:ahLst/>
            <a:cxnLst/>
            <a:rect r="r" b="b" t="t" l="l"/>
            <a:pathLst>
              <a:path h="420236" w="315559">
                <a:moveTo>
                  <a:pt x="0" y="0"/>
                </a:moveTo>
                <a:lnTo>
                  <a:pt x="315559" y="0"/>
                </a:lnTo>
                <a:lnTo>
                  <a:pt x="315559" y="420237"/>
                </a:lnTo>
                <a:lnTo>
                  <a:pt x="0" y="4202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97687" y="1265781"/>
            <a:ext cx="12290313" cy="800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5"/>
              </a:lnSpc>
            </a:pPr>
            <a:r>
              <a:rPr lang="en-US" sz="3146" b="true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Source:</a:t>
            </a:r>
            <a:r>
              <a:rPr lang="en-US" sz="31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 Guvi Toxic Comment Classification</a:t>
            </a:r>
          </a:p>
          <a:p>
            <a:pPr algn="l">
              <a:lnSpc>
                <a:spcPts val="4405"/>
              </a:lnSpc>
            </a:pPr>
          </a:p>
          <a:p>
            <a:pPr algn="l">
              <a:lnSpc>
                <a:spcPts val="4405"/>
              </a:lnSpc>
            </a:pPr>
            <a:r>
              <a:rPr lang="en-US" sz="3146" b="true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Shape:</a:t>
            </a:r>
            <a:r>
              <a:rPr lang="en-US" sz="31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 159,571 comments</a:t>
            </a:r>
          </a:p>
          <a:p>
            <a:pPr algn="l">
              <a:lnSpc>
                <a:spcPts val="4405"/>
              </a:lnSpc>
            </a:pPr>
          </a:p>
          <a:p>
            <a:pPr algn="l">
              <a:lnSpc>
                <a:spcPts val="4405"/>
              </a:lnSpc>
            </a:pPr>
            <a:r>
              <a:rPr lang="en-US" sz="3146" b="true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Multi-label:</a:t>
            </a:r>
            <a:r>
              <a:rPr lang="en-US" sz="31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 A single comment may belong to multiple classes</a:t>
            </a:r>
          </a:p>
          <a:p>
            <a:pPr algn="l">
              <a:lnSpc>
                <a:spcPts val="4405"/>
              </a:lnSpc>
            </a:pPr>
          </a:p>
          <a:p>
            <a:pPr algn="l">
              <a:lnSpc>
                <a:spcPts val="4405"/>
              </a:lnSpc>
            </a:pPr>
            <a:r>
              <a:rPr lang="en-US" sz="3146" b="true">
                <a:solidFill>
                  <a:srgbClr val="718BAB"/>
                </a:solidFill>
                <a:latin typeface="Helios Bold"/>
                <a:ea typeface="Helios Bold"/>
                <a:cs typeface="Helios Bold"/>
                <a:sym typeface="Helios Bold"/>
              </a:rPr>
              <a:t>Label </a:t>
            </a:r>
            <a:r>
              <a:rPr lang="en-US" sz="31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                                                 </a:t>
            </a:r>
            <a:r>
              <a:rPr lang="en-US" sz="3146" b="true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 </a:t>
            </a:r>
            <a:r>
              <a:rPr lang="en-US" sz="3146" b="true">
                <a:solidFill>
                  <a:srgbClr val="718BAB"/>
                </a:solidFill>
                <a:latin typeface="Helios Bold"/>
                <a:ea typeface="Helios Bold"/>
                <a:cs typeface="Helios Bold"/>
                <a:sym typeface="Helios Bold"/>
              </a:rPr>
              <a:t> Samples</a:t>
            </a:r>
          </a:p>
          <a:p>
            <a:pPr algn="l">
              <a:lnSpc>
                <a:spcPts val="4405"/>
              </a:lnSpc>
            </a:pPr>
          </a:p>
          <a:p>
            <a:pPr algn="l">
              <a:lnSpc>
                <a:spcPts val="4405"/>
              </a:lnSpc>
            </a:pPr>
            <a:r>
              <a:rPr lang="en-US" sz="31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Toxic                                                       15%</a:t>
            </a:r>
            <a:r>
              <a:rPr lang="en-US" sz="31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                                                              </a:t>
            </a:r>
          </a:p>
          <a:p>
            <a:pPr algn="l">
              <a:lnSpc>
                <a:spcPts val="4405"/>
              </a:lnSpc>
            </a:pPr>
            <a:r>
              <a:rPr lang="en-US" sz="31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Severe Toxic                                           1.9%</a:t>
            </a:r>
          </a:p>
          <a:p>
            <a:pPr algn="l">
              <a:lnSpc>
                <a:spcPts val="4405"/>
              </a:lnSpc>
            </a:pPr>
            <a:r>
              <a:rPr lang="en-US" sz="31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Obscene                                                  10%</a:t>
            </a:r>
          </a:p>
          <a:p>
            <a:pPr algn="l">
              <a:lnSpc>
                <a:spcPts val="4405"/>
              </a:lnSpc>
            </a:pPr>
            <a:r>
              <a:rPr lang="en-US" sz="31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Threat                                                      0.5%</a:t>
            </a:r>
          </a:p>
          <a:p>
            <a:pPr algn="l">
              <a:lnSpc>
                <a:spcPts val="4405"/>
              </a:lnSpc>
            </a:pPr>
            <a:r>
              <a:rPr lang="en-US" sz="31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Insult                                                        9.8%</a:t>
            </a:r>
          </a:p>
          <a:p>
            <a:pPr algn="l">
              <a:lnSpc>
                <a:spcPts val="4405"/>
              </a:lnSpc>
            </a:pPr>
            <a:r>
              <a:rPr lang="en-US" sz="3146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Identity Hate                                            1.8%</a:t>
            </a:r>
          </a:p>
          <a:p>
            <a:pPr algn="l" marL="0" indent="0" lvl="0">
              <a:lnSpc>
                <a:spcPts val="1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3773114"/>
            <a:chOff x="0" y="0"/>
            <a:chExt cx="24384000" cy="5030819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alphaModFix amt="14000"/>
            </a:blip>
            <a:srcRect l="0" t="27933" r="0" b="41099"/>
            <a:stretch>
              <a:fillRect/>
            </a:stretch>
          </p:blipFill>
          <p:spPr>
            <a:xfrm flipH="false" flipV="false"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3773114"/>
            <a:ext cx="18288000" cy="6513886"/>
            <a:chOff x="0" y="0"/>
            <a:chExt cx="4816593" cy="17155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715591"/>
            </a:xfrm>
            <a:custGeom>
              <a:avLst/>
              <a:gdLst/>
              <a:ahLst/>
              <a:cxnLst/>
              <a:rect r="r" b="b" t="t" l="l"/>
              <a:pathLst>
                <a:path h="171559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15591"/>
                  </a:lnTo>
                  <a:lnTo>
                    <a:pt x="0" y="17155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816593" cy="1782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Multi-label classification</a:t>
              </a:r>
            </a:p>
            <a:p>
              <a:pPr algn="ctr">
                <a:lnSpc>
                  <a:spcPts val="4199"/>
                </a:lnSpc>
              </a:pPr>
            </a:p>
            <a:p>
              <a:pPr algn="ctr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 Class imbalance (very low support for some labels)</a:t>
              </a:r>
            </a:p>
            <a:p>
              <a:pPr algn="ctr">
                <a:lnSpc>
                  <a:spcPts val="4199"/>
                </a:lnSpc>
              </a:pPr>
            </a:p>
            <a:p>
              <a:pPr algn="ctr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  Unstructured text with slang, misspellings</a:t>
              </a:r>
            </a:p>
            <a:p>
              <a:pPr algn="l">
                <a:lnSpc>
                  <a:spcPts val="4199"/>
                </a:lnSpc>
              </a:pPr>
            </a:p>
            <a:p>
              <a:pPr algn="ctr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Helios"/>
                  <a:ea typeface="Helios"/>
                  <a:cs typeface="Helios"/>
                  <a:sym typeface="Helios"/>
                </a:rPr>
                <a:t> Need for scalable and generalizable solution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49029" y="1534446"/>
            <a:ext cx="9008992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Challenges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333203" y="-1109791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33203" y="9635565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2165" y="-8868"/>
            <a:ext cx="8685835" cy="10295868"/>
            <a:chOff x="0" y="0"/>
            <a:chExt cx="2287627" cy="2711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627" cy="2711669"/>
            </a:xfrm>
            <a:custGeom>
              <a:avLst/>
              <a:gdLst/>
              <a:ahLst/>
              <a:cxnLst/>
              <a:rect r="r" b="b" t="t" l="l"/>
              <a:pathLst>
                <a:path h="2711669" w="2287627">
                  <a:moveTo>
                    <a:pt x="0" y="0"/>
                  </a:moveTo>
                  <a:lnTo>
                    <a:pt x="2287627" y="0"/>
                  </a:lnTo>
                  <a:lnTo>
                    <a:pt x="2287627" y="2711669"/>
                  </a:lnTo>
                  <a:lnTo>
                    <a:pt x="0" y="271166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7627" cy="2749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63550"/>
            <a:ext cx="6500368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3799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Solution </a:t>
            </a:r>
            <a:r>
              <a:rPr lang="en-US" sz="3799" b="true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Architecture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20940" y="1220505"/>
            <a:ext cx="6838360" cy="6838360"/>
            <a:chOff x="0" y="0"/>
            <a:chExt cx="9117814" cy="91178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17814" cy="9117814"/>
            </a:xfrm>
            <a:custGeom>
              <a:avLst/>
              <a:gdLst/>
              <a:ahLst/>
              <a:cxnLst/>
              <a:rect r="r" b="b" t="t" l="l"/>
              <a:pathLst>
                <a:path h="9117814" w="9117814">
                  <a:moveTo>
                    <a:pt x="0" y="0"/>
                  </a:moveTo>
                  <a:lnTo>
                    <a:pt x="9117814" y="0"/>
                  </a:lnTo>
                  <a:lnTo>
                    <a:pt x="9117814" y="9117814"/>
                  </a:lnTo>
                  <a:lnTo>
                    <a:pt x="0" y="9117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1207619" y="2415239"/>
              <a:ext cx="6702575" cy="6702575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718BAB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2445675" y="4891350"/>
              <a:ext cx="4226464" cy="4226464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C0CFE1"/>
              </a:solidFill>
            </p:spPr>
          </p:sp>
        </p:grpSp>
      </p:grpSp>
      <p:sp>
        <p:nvSpPr>
          <p:cNvPr name="TextBox 12" id="12"/>
          <p:cNvSpPr txBox="true"/>
          <p:nvPr/>
        </p:nvSpPr>
        <p:spPr>
          <a:xfrm rot="0">
            <a:off x="0" y="1567193"/>
            <a:ext cx="9602165" cy="779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6388" indent="-368194" lvl="1">
              <a:lnSpc>
                <a:spcPts val="4775"/>
              </a:lnSpc>
              <a:buFont typeface="Arial"/>
              <a:buChar char="•"/>
            </a:pPr>
            <a:r>
              <a:rPr lang="en-US" b="true" sz="3410">
                <a:solidFill>
                  <a:srgbClr val="718BAB"/>
                </a:solidFill>
                <a:latin typeface="Helios Bold"/>
                <a:ea typeface="Helios Bold"/>
                <a:cs typeface="Helios Bold"/>
                <a:sym typeface="Helios Bold"/>
              </a:rPr>
              <a:t>Model Used:</a:t>
            </a:r>
            <a:r>
              <a:rPr lang="en-US" sz="341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BERT-base-uncased</a:t>
            </a:r>
          </a:p>
          <a:p>
            <a:pPr algn="ctr">
              <a:lnSpc>
                <a:spcPts val="4775"/>
              </a:lnSpc>
            </a:pPr>
          </a:p>
          <a:p>
            <a:pPr algn="ctr" marL="736388" indent="-368194" lvl="1">
              <a:lnSpc>
                <a:spcPts val="4775"/>
              </a:lnSpc>
              <a:buFont typeface="Arial"/>
              <a:buChar char="•"/>
            </a:pPr>
            <a:r>
              <a:rPr lang="en-US" sz="341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 </a:t>
            </a:r>
            <a:r>
              <a:rPr lang="en-US" b="true" sz="3410">
                <a:solidFill>
                  <a:srgbClr val="718BAB"/>
                </a:solidFill>
                <a:latin typeface="Helios Bold"/>
                <a:ea typeface="Helios Bold"/>
                <a:cs typeface="Helios Bold"/>
                <a:sym typeface="Helios Bold"/>
              </a:rPr>
              <a:t>Frameworks:</a:t>
            </a:r>
            <a:r>
              <a:rPr lang="en-US" sz="341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PyTorch, Transformers</a:t>
            </a:r>
          </a:p>
          <a:p>
            <a:pPr algn="ctr">
              <a:lnSpc>
                <a:spcPts val="4775"/>
              </a:lnSpc>
            </a:pPr>
          </a:p>
          <a:p>
            <a:pPr algn="ctr">
              <a:lnSpc>
                <a:spcPts val="4775"/>
              </a:lnSpc>
            </a:pPr>
            <a:r>
              <a:rPr lang="en-US" sz="341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 </a:t>
            </a:r>
            <a:r>
              <a:rPr lang="en-US" b="true" sz="3410">
                <a:solidFill>
                  <a:srgbClr val="153969"/>
                </a:solidFill>
                <a:latin typeface="Helios Bold"/>
                <a:ea typeface="Helios Bold"/>
                <a:cs typeface="Helios Bold"/>
                <a:sym typeface="Helios Bold"/>
              </a:rPr>
              <a:t>Key Components:</a:t>
            </a:r>
          </a:p>
          <a:p>
            <a:pPr algn="ctr">
              <a:lnSpc>
                <a:spcPts val="4775"/>
              </a:lnSpc>
            </a:pPr>
          </a:p>
          <a:p>
            <a:pPr algn="ctr" marL="736388" indent="-368194" lvl="1">
              <a:lnSpc>
                <a:spcPts val="4775"/>
              </a:lnSpc>
              <a:buFont typeface="Arial"/>
              <a:buChar char="•"/>
            </a:pPr>
            <a:r>
              <a:rPr lang="en-US" sz="341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Custom BertMultiLabelClassifier</a:t>
            </a:r>
          </a:p>
          <a:p>
            <a:pPr algn="ctr">
              <a:lnSpc>
                <a:spcPts val="4775"/>
              </a:lnSpc>
            </a:pPr>
          </a:p>
          <a:p>
            <a:pPr algn="ctr" marL="736388" indent="-368194" lvl="1">
              <a:lnSpc>
                <a:spcPts val="4775"/>
              </a:lnSpc>
              <a:buFont typeface="Arial"/>
              <a:buChar char="•"/>
            </a:pPr>
            <a:r>
              <a:rPr lang="en-US" sz="341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Tokenizer from pretrained model</a:t>
            </a:r>
          </a:p>
          <a:p>
            <a:pPr algn="ctr">
              <a:lnSpc>
                <a:spcPts val="4775"/>
              </a:lnSpc>
            </a:pPr>
          </a:p>
          <a:p>
            <a:pPr algn="ctr" marL="736388" indent="-368194" lvl="1">
              <a:lnSpc>
                <a:spcPts val="4775"/>
              </a:lnSpc>
              <a:buFont typeface="Arial"/>
              <a:buChar char="•"/>
            </a:pPr>
            <a:r>
              <a:rPr lang="en-US" sz="341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Binary cross-entropy loss</a:t>
            </a:r>
          </a:p>
          <a:p>
            <a:pPr algn="ctr">
              <a:lnSpc>
                <a:spcPts val="4775"/>
              </a:lnSpc>
            </a:pPr>
          </a:p>
          <a:p>
            <a:pPr algn="ctr" marL="736388" indent="-368194" lvl="1">
              <a:lnSpc>
                <a:spcPts val="4775"/>
              </a:lnSpc>
              <a:buFont typeface="Arial"/>
              <a:buChar char="•"/>
            </a:pPr>
            <a:r>
              <a:rPr lang="en-US" sz="341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Sigmoid activation for multi-label outputs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340491"/>
            <a:chOff x="0" y="0"/>
            <a:chExt cx="4816593" cy="616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16426"/>
            </a:xfrm>
            <a:custGeom>
              <a:avLst/>
              <a:gdLst/>
              <a:ahLst/>
              <a:cxnLst/>
              <a:rect r="r" b="b" t="t" l="l"/>
              <a:pathLst>
                <a:path h="6164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6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572130"/>
            <a:ext cx="6044810" cy="229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T</a:t>
            </a: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raining </a:t>
            </a:r>
            <a:r>
              <a:rPr lang="en-US" b="true" sz="6999">
                <a:solidFill>
                  <a:srgbClr val="153969"/>
                </a:solidFill>
                <a:latin typeface="Klein Bold"/>
                <a:ea typeface="Klein Bold"/>
                <a:cs typeface="Klein Bold"/>
                <a:sym typeface="Klein Bold"/>
              </a:rPr>
              <a:t>Strategy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77914" y="2573598"/>
            <a:ext cx="7539863" cy="414910"/>
            <a:chOff x="0" y="0"/>
            <a:chExt cx="10053151" cy="5532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14169" y="-66675"/>
              <a:ext cx="8738982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Data Spl</a:t>
              </a: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it: Train (70%) / Test (30%)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77914" y="3440876"/>
            <a:ext cx="7539863" cy="414910"/>
            <a:chOff x="0" y="0"/>
            <a:chExt cx="10053151" cy="5532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14169" y="-50842"/>
              <a:ext cx="8738982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Hyperparameters: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8000" cy="2340491"/>
            <a:chOff x="0" y="0"/>
            <a:chExt cx="24384000" cy="3120655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4">
              <a:alphaModFix amt="14000"/>
            </a:blip>
            <a:srcRect l="0" t="45734" r="0" b="45734"/>
            <a:stretch>
              <a:fillRect/>
            </a:stretch>
          </p:blipFill>
          <p:spPr>
            <a:xfrm flipH="false" flipV="false">
              <a:off x="0" y="0"/>
              <a:ext cx="24384000" cy="3120655"/>
            </a:xfrm>
            <a:prstGeom prst="rect">
              <a:avLst/>
            </a:prstGeom>
          </p:spPr>
        </p:pic>
      </p:grpSp>
      <p:sp>
        <p:nvSpPr>
          <p:cNvPr name="TextBox 14" id="14"/>
          <p:cNvSpPr txBox="true"/>
          <p:nvPr/>
        </p:nvSpPr>
        <p:spPr>
          <a:xfrm rot="0">
            <a:off x="11144225" y="4265360"/>
            <a:ext cx="5334390" cy="421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16407" indent="-308204" lvl="1">
              <a:lnSpc>
                <a:spcPts val="3711"/>
              </a:lnSpc>
              <a:buFont typeface="Arial"/>
              <a:buChar char="•"/>
            </a:pPr>
            <a:r>
              <a:rPr lang="en-US" sz="2855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Batch Size: 16</a:t>
            </a:r>
          </a:p>
          <a:p>
            <a:pPr algn="ctr">
              <a:lnSpc>
                <a:spcPts val="3711"/>
              </a:lnSpc>
            </a:pPr>
          </a:p>
          <a:p>
            <a:pPr algn="ctr" marL="616407" indent="-308204" lvl="1">
              <a:lnSpc>
                <a:spcPts val="3711"/>
              </a:lnSpc>
              <a:buFont typeface="Arial"/>
              <a:buChar char="•"/>
            </a:pPr>
            <a:r>
              <a:rPr lang="en-US" sz="2855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Max Length: 128</a:t>
            </a:r>
          </a:p>
          <a:p>
            <a:pPr algn="ctr">
              <a:lnSpc>
                <a:spcPts val="3711"/>
              </a:lnSpc>
            </a:pPr>
          </a:p>
          <a:p>
            <a:pPr algn="ctr" marL="616407" indent="-308204" lvl="1">
              <a:lnSpc>
                <a:spcPts val="3711"/>
              </a:lnSpc>
              <a:buFont typeface="Arial"/>
              <a:buChar char="•"/>
            </a:pPr>
            <a:r>
              <a:rPr lang="en-US" sz="2855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Epochs: 3</a:t>
            </a:r>
          </a:p>
          <a:p>
            <a:pPr algn="ctr">
              <a:lnSpc>
                <a:spcPts val="3711"/>
              </a:lnSpc>
            </a:pPr>
          </a:p>
          <a:p>
            <a:pPr algn="ctr" marL="616407" indent="-308204" lvl="1">
              <a:lnSpc>
                <a:spcPts val="3711"/>
              </a:lnSpc>
              <a:buFont typeface="Arial"/>
              <a:buChar char="•"/>
            </a:pPr>
            <a:r>
              <a:rPr lang="en-US" sz="2855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Optimizer: AdamW</a:t>
            </a:r>
          </a:p>
          <a:p>
            <a:pPr algn="ctr">
              <a:lnSpc>
                <a:spcPts val="3711"/>
              </a:lnSpc>
            </a:pPr>
          </a:p>
          <a:p>
            <a:pPr algn="ctr" marL="616407" indent="-308204" lvl="1">
              <a:lnSpc>
                <a:spcPts val="3711"/>
              </a:lnSpc>
              <a:buFont typeface="Arial"/>
              <a:buChar char="•"/>
            </a:pPr>
            <a:r>
              <a:rPr lang="en-US" sz="2855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Scheduler: Linear warmup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77914" y="9072463"/>
            <a:ext cx="8667014" cy="975183"/>
            <a:chOff x="0" y="0"/>
            <a:chExt cx="11556018" cy="13002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332165"/>
              <a:ext cx="635914" cy="635914"/>
            </a:xfrm>
            <a:custGeom>
              <a:avLst/>
              <a:gdLst/>
              <a:ahLst/>
              <a:cxnLst/>
              <a:rect r="r" b="b" t="t" l="l"/>
              <a:pathLst>
                <a:path h="635914" w="635914">
                  <a:moveTo>
                    <a:pt x="0" y="0"/>
                  </a:moveTo>
                  <a:lnTo>
                    <a:pt x="635914" y="0"/>
                  </a:lnTo>
                  <a:lnTo>
                    <a:pt x="635914" y="635914"/>
                  </a:lnTo>
                  <a:lnTo>
                    <a:pt x="0" y="635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510627" y="-66675"/>
              <a:ext cx="10045391" cy="1366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84"/>
                </a:lnSpc>
                <a:spcBef>
                  <a:spcPct val="0"/>
                </a:spcBef>
              </a:pPr>
              <a:r>
                <a:rPr lang="en-US" sz="2988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Class weights and weighted loss used to address imbalance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351919"/>
            <a:chOff x="0" y="0"/>
            <a:chExt cx="4816593" cy="882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2810"/>
            </a:xfrm>
            <a:custGeom>
              <a:avLst/>
              <a:gdLst/>
              <a:ahLst/>
              <a:cxnLst/>
              <a:rect r="r" b="b" t="t" l="l"/>
              <a:pathLst>
                <a:path h="88281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2810"/>
                  </a:lnTo>
                  <a:lnTo>
                    <a:pt x="0" y="88281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20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48268" y="1181100"/>
            <a:ext cx="13991465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Model </a:t>
            </a:r>
            <a:r>
              <a:rPr lang="en-US" b="true" sz="6999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Evaluation Metrics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4956" y="4497051"/>
            <a:ext cx="8458081" cy="392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  <a:spcBef>
                <a:spcPct val="0"/>
              </a:spcBef>
            </a:pPr>
            <a:r>
              <a:rPr lang="en-US" sz="3416">
                <a:solidFill>
                  <a:srgbClr val="153969"/>
                </a:solidFill>
                <a:latin typeface="Klein"/>
                <a:ea typeface="Klein"/>
                <a:cs typeface="Klein"/>
                <a:sym typeface="Klein"/>
              </a:rPr>
              <a:t>Metrics Reported</a:t>
            </a:r>
          </a:p>
          <a:p>
            <a:pPr algn="ctr">
              <a:lnSpc>
                <a:spcPts val="4441"/>
              </a:lnSpc>
              <a:spcBef>
                <a:spcPct val="0"/>
              </a:spcBef>
            </a:pPr>
          </a:p>
          <a:p>
            <a:pPr algn="ctr" marL="737602" indent="-368801" lvl="1">
              <a:lnSpc>
                <a:spcPts val="4441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Precision, Recall, F1-Score (per label)</a:t>
            </a:r>
          </a:p>
          <a:p>
            <a:pPr algn="ctr">
              <a:lnSpc>
                <a:spcPts val="4441"/>
              </a:lnSpc>
            </a:pPr>
          </a:p>
          <a:p>
            <a:pPr algn="ctr" marL="737602" indent="-368801" lvl="1">
              <a:lnSpc>
                <a:spcPts val="4441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ROC-AUC for all labels</a:t>
            </a:r>
          </a:p>
          <a:p>
            <a:pPr algn="ctr">
              <a:lnSpc>
                <a:spcPts val="4441"/>
              </a:lnSpc>
            </a:pPr>
          </a:p>
          <a:p>
            <a:pPr algn="ctr" marL="737602" indent="-368801" lvl="1">
              <a:lnSpc>
                <a:spcPts val="4441"/>
              </a:lnSpc>
              <a:buFont typeface="Arial"/>
              <a:buChar char="•"/>
            </a:pPr>
            <a:r>
              <a:rPr lang="en-US" sz="3416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Micro, Macro, Weighted Averages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57392" y="4497051"/>
            <a:ext cx="7803425" cy="505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6"/>
              </a:lnSpc>
              <a:spcBef>
                <a:spcPct val="0"/>
              </a:spcBef>
            </a:pPr>
            <a:r>
              <a:rPr lang="en-US" sz="3420">
                <a:solidFill>
                  <a:srgbClr val="153969"/>
                </a:solidFill>
                <a:latin typeface="Klein"/>
                <a:ea typeface="Klein"/>
                <a:cs typeface="Klein"/>
                <a:sym typeface="Klein"/>
              </a:rPr>
              <a:t>ROC-AUC Scores (selected)</a:t>
            </a:r>
          </a:p>
          <a:p>
            <a:pPr algn="ctr">
              <a:lnSpc>
                <a:spcPts val="4446"/>
              </a:lnSpc>
              <a:spcBef>
                <a:spcPct val="0"/>
              </a:spcBef>
            </a:pPr>
          </a:p>
          <a:p>
            <a:pPr algn="ctr" marL="738378" indent="-369189" lvl="1">
              <a:lnSpc>
                <a:spcPts val="4446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Obscene: 0.992</a:t>
            </a:r>
          </a:p>
          <a:p>
            <a:pPr algn="ctr">
              <a:lnSpc>
                <a:spcPts val="4446"/>
              </a:lnSpc>
            </a:pPr>
          </a:p>
          <a:p>
            <a:pPr algn="ctr" marL="738378" indent="-369189" lvl="1">
              <a:lnSpc>
                <a:spcPts val="4446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Threat: 0.994</a:t>
            </a:r>
          </a:p>
          <a:p>
            <a:pPr algn="ctr">
              <a:lnSpc>
                <a:spcPts val="4446"/>
              </a:lnSpc>
            </a:pPr>
          </a:p>
          <a:p>
            <a:pPr algn="ctr" marL="738378" indent="-369189" lvl="1">
              <a:lnSpc>
                <a:spcPts val="4446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Insult: 0.987</a:t>
            </a:r>
          </a:p>
          <a:p>
            <a:pPr algn="ctr">
              <a:lnSpc>
                <a:spcPts val="4446"/>
              </a:lnSpc>
            </a:pPr>
          </a:p>
          <a:p>
            <a:pPr algn="ctr" marL="738378" indent="-369189" lvl="1">
              <a:lnSpc>
                <a:spcPts val="4446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Severe Toxic: 0.991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98421"/>
            <a:chOff x="0" y="0"/>
            <a:chExt cx="4816593" cy="605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05345"/>
            </a:xfrm>
            <a:custGeom>
              <a:avLst/>
              <a:gdLst/>
              <a:ahLst/>
              <a:cxnLst/>
              <a:rect r="r" b="b" t="t" l="l"/>
              <a:pathLst>
                <a:path h="60534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05345"/>
                  </a:lnTo>
                  <a:lnTo>
                    <a:pt x="0" y="60534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43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48268" y="952500"/>
            <a:ext cx="13991465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Mod</a:t>
            </a: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el Performance </a:t>
            </a:r>
            <a:r>
              <a:rPr lang="en-US" b="true" sz="6999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Summary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294" y="1015627"/>
            <a:ext cx="18129484" cy="8338375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100163" y="8139684"/>
            <a:ext cx="8621040" cy="168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8378" indent="-369189" lvl="1">
              <a:lnSpc>
                <a:spcPts val="4446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Micro Avg F1: 0.78</a:t>
            </a:r>
          </a:p>
          <a:p>
            <a:pPr algn="ctr">
              <a:lnSpc>
                <a:spcPts val="4446"/>
              </a:lnSpc>
            </a:pPr>
          </a:p>
          <a:p>
            <a:pPr algn="ctr" marL="738378" indent="-369189" lvl="1">
              <a:lnSpc>
                <a:spcPts val="4446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  Macro Avg F1: 0.67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2531290"/>
            <a:chOff x="0" y="0"/>
            <a:chExt cx="24384000" cy="337505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alphaModFix amt="14000"/>
            </a:blip>
            <a:srcRect l="0" t="33029" r="0" b="46195"/>
            <a:stretch>
              <a:fillRect/>
            </a:stretch>
          </p:blipFill>
          <p:spPr>
            <a:xfrm flipH="false" flipV="false">
              <a:off x="0" y="0"/>
              <a:ext cx="24384000" cy="3375053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2531290"/>
            <a:ext cx="18288000" cy="7755710"/>
            <a:chOff x="0" y="0"/>
            <a:chExt cx="4816593" cy="2042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042656"/>
            </a:xfrm>
            <a:custGeom>
              <a:avLst/>
              <a:gdLst/>
              <a:ahLst/>
              <a:cxnLst/>
              <a:rect r="r" b="b" t="t" l="l"/>
              <a:pathLst>
                <a:path h="20426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42656"/>
                  </a:lnTo>
                  <a:lnTo>
                    <a:pt x="0" y="2042656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816593" cy="2109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39504" y="913534"/>
            <a:ext cx="9008992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Str</a:t>
            </a:r>
            <a:r>
              <a:rPr lang="en-US" b="true" sz="6999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eamlit App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477108" y="-81079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25" y="3741823"/>
            <a:ext cx="9278380" cy="587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b="true" sz="3257">
                <a:solidFill>
                  <a:srgbClr val="153969"/>
                </a:solidFill>
                <a:latin typeface="Klein Bold"/>
                <a:ea typeface="Klein Bold"/>
                <a:cs typeface="Klein Bold"/>
                <a:sym typeface="Klein Bold"/>
              </a:rPr>
              <a:t>Features</a:t>
            </a:r>
          </a:p>
          <a:p>
            <a:pPr algn="ctr">
              <a:lnSpc>
                <a:spcPts val="4234"/>
              </a:lnSpc>
              <a:spcBef>
                <a:spcPct val="0"/>
              </a:spcBef>
            </a:pPr>
          </a:p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257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Single &amp; bulk comment prediction</a:t>
            </a:r>
          </a:p>
          <a:p>
            <a:pPr algn="ctr">
              <a:lnSpc>
                <a:spcPts val="4234"/>
              </a:lnSpc>
              <a:spcBef>
                <a:spcPct val="0"/>
              </a:spcBef>
            </a:pPr>
          </a:p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257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CSV upload for batch processing</a:t>
            </a:r>
          </a:p>
          <a:p>
            <a:pPr algn="ctr">
              <a:lnSpc>
                <a:spcPts val="4234"/>
              </a:lnSpc>
              <a:spcBef>
                <a:spcPct val="0"/>
              </a:spcBef>
            </a:pPr>
          </a:p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257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Visualizations (bar charts, histograms)</a:t>
            </a:r>
          </a:p>
          <a:p>
            <a:pPr algn="ctr">
              <a:lnSpc>
                <a:spcPts val="4234"/>
              </a:lnSpc>
              <a:spcBef>
                <a:spcPct val="0"/>
              </a:spcBef>
            </a:pPr>
          </a:p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257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Downloadable analysis results</a:t>
            </a:r>
          </a:p>
          <a:p>
            <a:pPr algn="ctr">
              <a:lnSpc>
                <a:spcPts val="4234"/>
              </a:lnSpc>
              <a:spcBef>
                <a:spcPct val="0"/>
              </a:spcBef>
            </a:pPr>
          </a:p>
          <a:p>
            <a:pPr algn="ctr">
              <a:lnSpc>
                <a:spcPts val="4234"/>
              </a:lnSpc>
              <a:spcBef>
                <a:spcPct val="0"/>
              </a:spcBef>
            </a:pPr>
            <a:r>
              <a:rPr lang="en-US" sz="3257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Beautiful UI with Plotly, responsive layout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3525" y="3751348"/>
            <a:ext cx="9134475" cy="366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3"/>
              </a:lnSpc>
              <a:spcBef>
                <a:spcPct val="0"/>
              </a:spcBef>
            </a:pPr>
            <a:r>
              <a:rPr lang="en-US" b="true" sz="3218">
                <a:solidFill>
                  <a:srgbClr val="153969"/>
                </a:solidFill>
                <a:latin typeface="Klein Bold"/>
                <a:ea typeface="Klein Bold"/>
                <a:cs typeface="Klein Bold"/>
                <a:sym typeface="Klein Bold"/>
              </a:rPr>
              <a:t>Files Used</a:t>
            </a:r>
          </a:p>
          <a:p>
            <a:pPr algn="ctr">
              <a:lnSpc>
                <a:spcPts val="4183"/>
              </a:lnSpc>
              <a:spcBef>
                <a:spcPct val="0"/>
              </a:spcBef>
            </a:pPr>
          </a:p>
          <a:p>
            <a:pPr algn="ctr">
              <a:lnSpc>
                <a:spcPts val="4183"/>
              </a:lnSpc>
              <a:spcBef>
                <a:spcPct val="0"/>
              </a:spcBef>
            </a:pPr>
            <a:r>
              <a:rPr lang="en-US" sz="3218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bert_multilabel_best.pth</a:t>
            </a:r>
          </a:p>
          <a:p>
            <a:pPr algn="ctr">
              <a:lnSpc>
                <a:spcPts val="4183"/>
              </a:lnSpc>
              <a:spcBef>
                <a:spcPct val="0"/>
              </a:spcBef>
            </a:pPr>
          </a:p>
          <a:p>
            <a:pPr algn="ctr">
              <a:lnSpc>
                <a:spcPts val="4183"/>
              </a:lnSpc>
              <a:spcBef>
                <a:spcPct val="0"/>
              </a:spcBef>
            </a:pPr>
            <a:r>
              <a:rPr lang="en-US" sz="3218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label_list.json</a:t>
            </a:r>
          </a:p>
          <a:p>
            <a:pPr algn="ctr">
              <a:lnSpc>
                <a:spcPts val="4183"/>
              </a:lnSpc>
              <a:spcBef>
                <a:spcPct val="0"/>
              </a:spcBef>
            </a:pPr>
          </a:p>
          <a:p>
            <a:pPr algn="ctr">
              <a:lnSpc>
                <a:spcPts val="4183"/>
              </a:lnSpc>
              <a:spcBef>
                <a:spcPct val="0"/>
              </a:spcBef>
            </a:pPr>
            <a:r>
              <a:rPr lang="en-US" sz="3218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./bert_tokenizer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511690"/>
            <a:chOff x="0" y="0"/>
            <a:chExt cx="4816593" cy="6615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61515"/>
            </a:xfrm>
            <a:custGeom>
              <a:avLst/>
              <a:gdLst/>
              <a:ahLst/>
              <a:cxnLst/>
              <a:rect r="r" b="b" t="t" l="l"/>
              <a:pathLst>
                <a:path h="66151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1515"/>
                  </a:lnTo>
                  <a:lnTo>
                    <a:pt x="0" y="661515"/>
                  </a:lnTo>
                  <a:close/>
                </a:path>
              </a:pathLst>
            </a:custGeom>
            <a:solidFill>
              <a:srgbClr val="5D5D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99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48268" y="952500"/>
            <a:ext cx="13991465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GitH</a:t>
            </a: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ub &amp; </a:t>
            </a:r>
            <a:r>
              <a:rPr lang="en-US" b="true" sz="6999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Deployment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3048986"/>
            <a:ext cx="18288000" cy="111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6"/>
              </a:lnSpc>
              <a:spcBef>
                <a:spcPct val="0"/>
              </a:spcBef>
            </a:pPr>
            <a:r>
              <a:rPr lang="en-US" sz="342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Public GitHub Repo: https://github.com/Balaji-itz-me/Deep-Learning-for-Comment-Toxicity-Detection-with-Streamlit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5263233"/>
            <a:ext cx="9633851" cy="366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  <a:spcBef>
                <a:spcPct val="0"/>
              </a:spcBef>
            </a:pPr>
            <a:r>
              <a:rPr lang="en-US" b="true" sz="3220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Includes:</a:t>
            </a:r>
          </a:p>
          <a:p>
            <a:pPr algn="ctr">
              <a:lnSpc>
                <a:spcPts val="4186"/>
              </a:lnSpc>
              <a:spcBef>
                <a:spcPct val="0"/>
              </a:spcBef>
            </a:pPr>
          </a:p>
          <a:p>
            <a:pPr algn="ctr">
              <a:lnSpc>
                <a:spcPts val="4186"/>
              </a:lnSpc>
              <a:spcBef>
                <a:spcPct val="0"/>
              </a:spcBef>
            </a:pPr>
            <a:r>
              <a:rPr lang="en-US" sz="322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README.md with setup &amp; usage</a:t>
            </a:r>
          </a:p>
          <a:p>
            <a:pPr algn="ctr">
              <a:lnSpc>
                <a:spcPts val="4186"/>
              </a:lnSpc>
              <a:spcBef>
                <a:spcPct val="0"/>
              </a:spcBef>
            </a:pPr>
          </a:p>
          <a:p>
            <a:pPr algn="ctr">
              <a:lnSpc>
                <a:spcPts val="4186"/>
              </a:lnSpc>
              <a:spcBef>
                <a:spcPct val="0"/>
              </a:spcBef>
            </a:pPr>
            <a:r>
              <a:rPr lang="en-US" sz="322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.py and .ipynb files</a:t>
            </a:r>
          </a:p>
          <a:p>
            <a:pPr algn="ctr">
              <a:lnSpc>
                <a:spcPts val="4186"/>
              </a:lnSpc>
              <a:spcBef>
                <a:spcPct val="0"/>
              </a:spcBef>
            </a:pPr>
          </a:p>
          <a:p>
            <a:pPr algn="ctr">
              <a:lnSpc>
                <a:spcPts val="4186"/>
              </a:lnSpc>
              <a:spcBef>
                <a:spcPct val="0"/>
              </a:spcBef>
            </a:pPr>
            <a:r>
              <a:rPr lang="en-US" sz="322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Pretrained weights, tokenizer, and sample CSV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33851" y="5263233"/>
            <a:ext cx="8654149" cy="280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6"/>
              </a:lnSpc>
              <a:spcBef>
                <a:spcPct val="0"/>
              </a:spcBef>
            </a:pPr>
            <a:r>
              <a:rPr lang="en-US" b="true" sz="3420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Deployment:</a:t>
            </a:r>
          </a:p>
          <a:p>
            <a:pPr algn="ctr">
              <a:lnSpc>
                <a:spcPts val="4446"/>
              </a:lnSpc>
              <a:spcBef>
                <a:spcPct val="0"/>
              </a:spcBef>
            </a:pPr>
          </a:p>
          <a:p>
            <a:pPr algn="ctr">
              <a:lnSpc>
                <a:spcPts val="4446"/>
              </a:lnSpc>
              <a:spcBef>
                <a:spcPct val="0"/>
              </a:spcBef>
            </a:pPr>
            <a:r>
              <a:rPr lang="en-US" sz="342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Streamlit Cloud hosted app</a:t>
            </a:r>
          </a:p>
          <a:p>
            <a:pPr algn="ctr">
              <a:lnSpc>
                <a:spcPts val="4446"/>
              </a:lnSpc>
              <a:spcBef>
                <a:spcPct val="0"/>
              </a:spcBef>
            </a:pPr>
          </a:p>
          <a:p>
            <a:pPr algn="ctr">
              <a:lnSpc>
                <a:spcPts val="4446"/>
              </a:lnSpc>
              <a:spcBef>
                <a:spcPct val="0"/>
              </a:spcBef>
            </a:pPr>
            <a:r>
              <a:rPr lang="en-US" sz="342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Video Demo shared on LinkedIn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8272" y="215303"/>
            <a:ext cx="9856393" cy="9856393"/>
            <a:chOff x="0" y="0"/>
            <a:chExt cx="13141858" cy="13141858"/>
          </a:xfrm>
        </p:grpSpPr>
        <p:sp>
          <p:nvSpPr>
            <p:cNvPr name="Freeform 3" id="3"/>
            <p:cNvSpPr/>
            <p:nvPr/>
          </p:nvSpPr>
          <p:spPr>
            <a:xfrm flipH="false" flipV="false" rot="-1200957">
              <a:off x="1444916" y="1444916"/>
              <a:ext cx="10252025" cy="10252025"/>
            </a:xfrm>
            <a:custGeom>
              <a:avLst/>
              <a:gdLst/>
              <a:ahLst/>
              <a:cxnLst/>
              <a:rect r="r" b="b" t="t" l="l"/>
              <a:pathLst>
                <a:path h="10252025" w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11122" y="1311122"/>
              <a:ext cx="10252025" cy="10252025"/>
            </a:xfrm>
            <a:custGeom>
              <a:avLst/>
              <a:gdLst/>
              <a:ahLst/>
              <a:cxnLst/>
              <a:rect r="r" b="b" t="t" l="l"/>
              <a:pathLst>
                <a:path h="10252025" w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415388"/>
            <a:ext cx="7285740" cy="6607810"/>
            <a:chOff x="0" y="0"/>
            <a:chExt cx="9714320" cy="881041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9714320" cy="1494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6999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K</a:t>
              </a:r>
              <a:r>
                <a:rPr lang="en-US" b="true" sz="6999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ey </a:t>
              </a:r>
              <a:r>
                <a:rPr lang="en-US" b="true" sz="6999">
                  <a:solidFill>
                    <a:srgbClr val="2F5F98"/>
                  </a:solidFill>
                  <a:latin typeface="Klein Bold"/>
                  <a:ea typeface="Klein Bold"/>
                  <a:cs typeface="Klein Bold"/>
                  <a:sym typeface="Klein Bold"/>
                </a:rPr>
                <a:t>Learnings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08411"/>
              <a:ext cx="8770288" cy="6702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Hands-on</a:t>
              </a:r>
              <a:r>
                <a:rPr lang="en-US" sz="31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with Transformers (BERT)</a:t>
              </a:r>
            </a:p>
            <a:p>
              <a:pPr algn="l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Tackled multi-label classification</a:t>
              </a:r>
            </a:p>
            <a:p>
              <a:pPr algn="l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Managed deployment issues (tokenizer, Rust, Python versions)</a:t>
              </a:r>
            </a:p>
            <a:p>
              <a:pPr algn="l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Real-world app building and performance tuning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051389" cy="10295868"/>
            <a:chOff x="0" y="0"/>
            <a:chExt cx="1857156" cy="2711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7156" cy="2711669"/>
            </a:xfrm>
            <a:custGeom>
              <a:avLst/>
              <a:gdLst/>
              <a:ahLst/>
              <a:cxnLst/>
              <a:rect r="r" b="b" t="t" l="l"/>
              <a:pathLst>
                <a:path h="2711669" w="1857156">
                  <a:moveTo>
                    <a:pt x="0" y="0"/>
                  </a:moveTo>
                  <a:lnTo>
                    <a:pt x="1857156" y="0"/>
                  </a:lnTo>
                  <a:lnTo>
                    <a:pt x="1857156" y="2711669"/>
                  </a:lnTo>
                  <a:lnTo>
                    <a:pt x="0" y="271166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57156" cy="2749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289425"/>
            <a:ext cx="5097869" cy="822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Nex</a:t>
            </a:r>
            <a:r>
              <a:rPr lang="en-US" b="true" sz="5000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t Steps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51389" y="3073610"/>
            <a:ext cx="11236611" cy="392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8378" indent="-369189" lvl="1">
              <a:lnSpc>
                <a:spcPts val="4446"/>
              </a:lnSpc>
              <a:buFont typeface="Arial"/>
              <a:buChar char="•"/>
            </a:pPr>
            <a:r>
              <a:rPr lang="en-US" sz="3420">
                <a:solidFill>
                  <a:srgbClr val="2A2E3A"/>
                </a:solidFill>
                <a:latin typeface="Klein"/>
                <a:ea typeface="Klein"/>
                <a:cs typeface="Klein"/>
                <a:sym typeface="Klein"/>
              </a:rPr>
              <a:t>Fine-tune on more diverse datasets</a:t>
            </a:r>
          </a:p>
          <a:p>
            <a:pPr algn="ctr">
              <a:lnSpc>
                <a:spcPts val="4446"/>
              </a:lnSpc>
            </a:pPr>
          </a:p>
          <a:p>
            <a:pPr algn="ctr" marL="738378" indent="-369189" lvl="1">
              <a:lnSpc>
                <a:spcPts val="4446"/>
              </a:lnSpc>
              <a:buFont typeface="Arial"/>
              <a:buChar char="•"/>
            </a:pPr>
            <a:r>
              <a:rPr lang="en-US" sz="3420">
                <a:solidFill>
                  <a:srgbClr val="2A2E3A"/>
                </a:solidFill>
                <a:latin typeface="Klein"/>
                <a:ea typeface="Klein"/>
                <a:cs typeface="Klein"/>
                <a:sym typeface="Klein"/>
              </a:rPr>
              <a:t> Improve performance on low-frequency labels</a:t>
            </a:r>
          </a:p>
          <a:p>
            <a:pPr algn="ctr">
              <a:lnSpc>
                <a:spcPts val="4446"/>
              </a:lnSpc>
            </a:pPr>
          </a:p>
          <a:p>
            <a:pPr algn="ctr" marL="738378" indent="-369189" lvl="1">
              <a:lnSpc>
                <a:spcPts val="4446"/>
              </a:lnSpc>
              <a:buFont typeface="Arial"/>
              <a:buChar char="•"/>
            </a:pPr>
            <a:r>
              <a:rPr lang="en-US" sz="3420">
                <a:solidFill>
                  <a:srgbClr val="2A2E3A"/>
                </a:solidFill>
                <a:latin typeface="Klein"/>
                <a:ea typeface="Klein"/>
                <a:cs typeface="Klein"/>
                <a:sym typeface="Klein"/>
              </a:rPr>
              <a:t> Add moderation actions (like flags, user alerts)</a:t>
            </a:r>
          </a:p>
          <a:p>
            <a:pPr algn="ctr">
              <a:lnSpc>
                <a:spcPts val="4446"/>
              </a:lnSpc>
            </a:pPr>
          </a:p>
          <a:p>
            <a:pPr algn="ctr" marL="738378" indent="-369189" lvl="1">
              <a:lnSpc>
                <a:spcPts val="4446"/>
              </a:lnSpc>
              <a:buFont typeface="Arial"/>
              <a:buChar char="•"/>
            </a:pPr>
            <a:r>
              <a:rPr lang="en-US" sz="3420">
                <a:solidFill>
                  <a:srgbClr val="2A2E3A"/>
                </a:solidFill>
                <a:latin typeface="Klein"/>
                <a:ea typeface="Klein"/>
                <a:cs typeface="Klein"/>
                <a:sym typeface="Klein"/>
              </a:rPr>
              <a:t> Integrate model explainability (e.g., SHAP)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73413">
            <a:off x="9283310" y="-2113117"/>
            <a:ext cx="13265113" cy="13265113"/>
          </a:xfrm>
          <a:custGeom>
            <a:avLst/>
            <a:gdLst/>
            <a:ahLst/>
            <a:cxnLst/>
            <a:rect r="r" b="b" t="t" l="l"/>
            <a:pathLst>
              <a:path h="13265113" w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67802" y="-695325"/>
            <a:ext cx="12417410" cy="11560608"/>
            <a:chOff x="0" y="0"/>
            <a:chExt cx="6350000" cy="59118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68580" y="0"/>
              <a:ext cx="6417310" cy="5911850"/>
            </a:xfrm>
            <a:custGeom>
              <a:avLst/>
              <a:gdLst/>
              <a:ahLst/>
              <a:cxnLst/>
              <a:rect r="r" b="b" t="t" l="l"/>
              <a:pathLst>
                <a:path h="5911850" w="641731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4">
                <a:alphaModFix amt="90000"/>
              </a:blip>
              <a:stretch>
                <a:fillRect l="-19842" t="0" r="-1984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4102991"/>
            <a:ext cx="1159668" cy="115966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001016"/>
            <a:ext cx="5837845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true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Thank </a:t>
            </a:r>
            <a:r>
              <a:rPr lang="en-US" sz="6999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you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910566" y="4171455"/>
            <a:ext cx="6012648" cy="1022740"/>
            <a:chOff x="0" y="0"/>
            <a:chExt cx="8016865" cy="136365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735004"/>
              <a:ext cx="8016865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balajikamaraj99@gmail.com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8016865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Email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10566" y="6150273"/>
            <a:ext cx="7579425" cy="1479940"/>
            <a:chOff x="0" y="0"/>
            <a:chExt cx="10105901" cy="197325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735004"/>
              <a:ext cx="10105901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https://www.linkedin.com/in/balaji-k-626613157/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10105901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LinkedIn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17102" y="4535596"/>
            <a:ext cx="382865" cy="294458"/>
          </a:xfrm>
          <a:custGeom>
            <a:avLst/>
            <a:gdLst/>
            <a:ahLst/>
            <a:cxnLst/>
            <a:rect r="r" b="b" t="t" l="l"/>
            <a:pathLst>
              <a:path h="294458" w="382865">
                <a:moveTo>
                  <a:pt x="0" y="0"/>
                </a:moveTo>
                <a:lnTo>
                  <a:pt x="382865" y="0"/>
                </a:lnTo>
                <a:lnTo>
                  <a:pt x="382865" y="294458"/>
                </a:lnTo>
                <a:lnTo>
                  <a:pt x="0" y="2944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6081809"/>
            <a:ext cx="1159668" cy="115966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17102" y="6445815"/>
            <a:ext cx="421145" cy="421145"/>
          </a:xfrm>
          <a:custGeom>
            <a:avLst/>
            <a:gdLst/>
            <a:ahLst/>
            <a:cxnLst/>
            <a:rect r="r" b="b" t="t" l="l"/>
            <a:pathLst>
              <a:path h="421145" w="421145">
                <a:moveTo>
                  <a:pt x="0" y="0"/>
                </a:moveTo>
                <a:lnTo>
                  <a:pt x="421145" y="0"/>
                </a:lnTo>
                <a:lnTo>
                  <a:pt x="421145" y="421145"/>
                </a:lnTo>
                <a:lnTo>
                  <a:pt x="0" y="4211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DAGtPtZia3c</dc:identifier>
  <dcterms:modified xsi:type="dcterms:W3CDTF">2011-08-01T06:04:30Z</dcterms:modified>
  <cp:revision>1</cp:revision>
  <dc:title>Model Evaluation Metrics</dc:title>
</cp:coreProperties>
</file>